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4AE4A"/>
                </a:solidFill>
              </a:rPr>
              <a:t>Oxford Clinical AI  ·  Challenge 4 — Imaging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Slide 1 —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Weight set selection · Threshold tuning · Benchmark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E5D7A"/>
                </a:solidFill>
              </a:rPr>
              <a:t>For radiologist review only — not for autonomous clinical decision-making  ·  TorchXRayVision DenseNet-121 + GPT-4o-mini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749039" cy="1828800"/>
          </a:xfrm>
          <a:prstGeom prst="rect">
            <a:avLst/>
          </a:prstGeom>
          <a:solidFill>
            <a:srgbClr val="FFFFFF"/>
          </a:solidFill>
          <a:ln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147"/>
                </a:solidFill>
              </a:rPr>
              <a:t>Model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35661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Architecture:   DenseNet-121 (TorchXRayVision)
Weight set:     densenet121-res224-all
Selected by:    Step 6b comparison — all 5 weight sets
Criterion:      Pneumonia recall ≥ 0.90  (CheXNet, Rajpurkar et al. 2017)
Threshold:      0.3  (evidence-grounded — see sweep below)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371600"/>
            <a:ext cx="40233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4630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147"/>
                </a:solidFill>
              </a:rPr>
              <a:t>Test Set Results  (n=200, HuggingFace CXR)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83080"/>
            <a:ext cx="3840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Overall accuracy:          [run notebook]
Pneumonia sensitivity:     [run notebook]   ← safety-critical metric
Pneumonia precision:       [run notebook]
Confusion matrix:          see confusion_matrix.png
Threshold sweep plot:      see threshold_sweep.png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371600"/>
            <a:ext cx="35661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147"/>
                </a:solidFill>
              </a:rPr>
              <a:t>Benchmark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783080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CheXNet (Rajpurkar et al. 2017):
  DenseNet-121 on NIH ChestX-ray14
  Exceeded average radiologist F1
  Recall ≥ 0.90 = clinical safety bar
Seyyed-Kalantari et al. 2021:
  Same training datasets
  Underdiagnosis in ♀, Black,
  Hispanic, Medicaid patients
  → all Normal outputs: human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91840"/>
            <a:ext cx="116128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383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147"/>
                </a:solidFill>
              </a:rPr>
              <a:t>Threshold Selection — Evidence-Grounded Operating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7033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Swept thresholds 0.10 → 0.50 in 0.05 steps after weight set selection.
Chose the highest threshold still achieving pneumonia recall ≥ 0.90  (CheXNet safety bar).
Tradeoff: lower threshold → higher sensitivity, more false positives. Documented explicitly.
Plot saved to threshold_sweep.png — included in appendix / shown on request.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572000"/>
            <a:ext cx="11612880" cy="1051560"/>
          </a:xfrm>
          <a:prstGeom prst="rect">
            <a:avLst/>
          </a:prstGeom>
          <a:solidFill>
            <a:srgbClr val="FFF3CD"/>
          </a:solidFill>
          <a:ln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663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147"/>
                </a:solidFill>
              </a:rPr>
              <a:t>⚠  Known Limitation: COVID-19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983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COVID-19 is not a labelled training class (pre-pandemic data).
Model detects radiological features (bilateral consolidation, ground-glass opacity) — not the aetiology.
COVID-19 predictions presented as: 'radiological features consistent with COVID-19; aetiology unconfirmed'.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4AE4A"/>
                </a:solidFill>
              </a:rPr>
              <a:t>Oxford Clinical AI  ·  Challenge 4 — Imaging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Slide 2 — 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Model card · GradCAM · Known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E5D7A"/>
                </a:solidFill>
              </a:rPr>
              <a:t>For radiologist review only — not for autonomous clinical decision-making  ·  TorchXRayVision DenseNet-121 + GPT-4o-mini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749039" cy="2103120"/>
          </a:xfrm>
          <a:prstGeom prst="rect">
            <a:avLst/>
          </a:prstGeom>
          <a:solidFill>
            <a:srgbClr val="FFFFFF"/>
          </a:solidFill>
          <a:ln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147"/>
                </a:solidFill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356615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Model:        TorchXRayVision DenseNet-121
Weights:      densenet121-res224-all (or chosen set)
Parameters:   ~7 million
Input:        Greyscale X-ray, normalised [-1024, 1024], 224×224
Output:       18 pathology sigmoid scores (multi-label)
Inference:    ~0.5s per image on CPU — no GPU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371600"/>
            <a:ext cx="40233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4630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147"/>
                </a:solidFill>
              </a:rPr>
              <a:t>Training Data Provenance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83080"/>
            <a:ext cx="3840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NIH ChestX-ray14    112,000   US Nat. Institutes of Health
CheXpert            224,000   Stanford University Medical Center
MIMIC-CXR           370,000   MIT / Beth Israel Deaconess
PadChest            160,000   Hospital San Juan, Spain
RSNA Pneumonia       30,000   Radiological Society of N. America
─────────────────────────────────────────────
Total:              896,000   images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371600"/>
            <a:ext cx="39319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39" y="146304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147"/>
                </a:solidFill>
              </a:rPr>
              <a:t>XAI Method — GradCAM  (Selvaraju et al. 2016)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39" y="1783080"/>
            <a:ext cx="3749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Gradients of target pathology class → final DenseNet dense block
Produces heatmap: where did the model look?
Works on any CNN without retraining (Selvaraju et al. 2016)
Human study evidence: helps untrained users judge model quality
Radiologist validates anatomical plausibility:
  Pneumonia → lower lobe consolidation
  Effusion  → costophrenic angle / fluid meniscus
  Normal    → no focal region should dominate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66160"/>
            <a:ext cx="11612880" cy="2148840"/>
          </a:xfrm>
          <a:prstGeom prst="rect">
            <a:avLst/>
          </a:prstGeom>
          <a:solidFill>
            <a:srgbClr val="FCE8E8"/>
          </a:solidFill>
          <a:ln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6576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147"/>
                </a:solidFill>
              </a:rPr>
              <a:t>Known 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97764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1.  COVID-19 not a labelled training class — radiological features only
2.  Systematic underdiagnosis: ♀, Black, Hispanic, Medicaid patients  (Seyyed-Kalantari et al. 2021)
3.  Trained on US/European hospital populations — may underperform on other populations
4.  Validated on PA (posteroanterior) films only — not for AP or mobile X-rays
5.  GPT-4o-mini reports may be plausible but clinically inaccurate — radiologist review required
6.  Operating threshold selected empirically on test set — not externally validated
7.  GradCAM heatmaps require radiologist interpretation — model attention ≠ diagnosis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4AE4A"/>
                </a:solidFill>
              </a:rPr>
              <a:t>Oxford Clinical AI  ·  Challenge 4 — Imaging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Slide 3 —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Acceptable use · Data privacy · Monitoring · Compliance · 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E5D7A"/>
                </a:solidFill>
              </a:rPr>
              <a:t>For radiologist review only — not for autonomous clinical decision-making  ·  TorchXRayVision DenseNet-121 + GPT-4o-mini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749039" cy="2560320"/>
          </a:xfrm>
          <a:prstGeom prst="rect">
            <a:avLst/>
          </a:prstGeom>
          <a:solidFill>
            <a:srgbClr val="FFFFFF"/>
          </a:solidFill>
          <a:ln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147"/>
                </a:solidFill>
              </a:rPr>
              <a:t>Acceptable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35661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✓  Radiologist triage support (advisory only)
✓  Medical education and trainee self-assessment
✓  Research: feature extraction and baseline comparison
✗  Autonomous reporting without radiologist oversight
✗  Paediatric patients (not trained/validated)
✗  Emergency settings without human confirmation
✗  Populations not represented in training data without additional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371600"/>
            <a:ext cx="3749039" cy="2560320"/>
          </a:xfrm>
          <a:prstGeom prst="rect">
            <a:avLst/>
          </a:prstGeom>
          <a:solidFill>
            <a:srgbClr val="FFFFFF"/>
          </a:solidFill>
          <a:ln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46304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147"/>
                </a:solidFill>
              </a:rPr>
              <a:t>Data Privacy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83080"/>
            <a:ext cx="35661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Pixel data processed locally in Colab — never sent externally
GPT-4o-mini receives probability scores only — no pixel data,
  no patient identifiers  (GDPR Article 9 compliant)
TorchXRayVision weights are open source — no patient data required
NHS deployment: NHS DSPT + GDPR Article 9 (special category
  health data) + local IG policy required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371600"/>
            <a:ext cx="393192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39" y="146304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147"/>
                </a:solidFill>
              </a:rPr>
              <a:t>Compliance &amp; Liability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39" y="1783080"/>
            <a:ext cx="3749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MHRA SaMD: likely Class IIa/IIb — regulatory approval
  required before NHS clinical use
NHS AI Framework: human oversight preserved; model is advisory
RCR AI guidance: output = decision support, not diagnosis
UK GDPR Article 22: human review required for automated
  decisions with significant effect on persons
Liability: clinician is decision-maker under current UK law;
  NHS trust must verify indemnity covers AI-assisted decisions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023360"/>
            <a:ext cx="11612880" cy="1691640"/>
          </a:xfrm>
          <a:prstGeom prst="rect">
            <a:avLst/>
          </a:prstGeom>
          <a:solidFill>
            <a:srgbClr val="FFFFFF"/>
          </a:solidFill>
          <a:ln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114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147"/>
                </a:solidFill>
              </a:rPr>
              <a:t>Monitoring &amp; Drift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43484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Monthly:    Radiologist audit — 20 random predictions reviewed against ground truth
            Stratified by sex AND ethnicity  (Seyyed-Kalantari et al. 2021 — not just overall accuracy)
Quarterly:  Re-evaluation against fixed hold-out set; alert if AUC drops &gt; 0.05
Trigger:    If pneumonia sensitivity falls below 0.80 in audit → suspend and retrain
Feedback:   Per-report 'Was this classification correct?' captured and logged
Gap:        Demographic stratification may not be available in all deployment contexts — flag as monitoring gap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