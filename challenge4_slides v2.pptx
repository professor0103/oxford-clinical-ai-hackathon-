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67" r:id="rId3"/>
    <p:sldId id="26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26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 Bar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Gold Line"/>
          <p:cNvSpPr/>
          <p:nvPr/>
        </p:nvSpPr>
        <p:spPr>
          <a:xfrm>
            <a:off x="73152" y="6766560"/>
            <a:ext cx="12119448" cy="27432"/>
          </a:xfrm>
          <a:prstGeom prst="rect">
            <a:avLst/>
          </a:prstGeom>
          <a:solidFill>
            <a:srgbClr val="C7A94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214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1C1C28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Bar"/>
          <p:cNvSpPr/>
          <p:nvPr/>
        </p:nvSpPr>
        <p:spPr>
          <a:xfrm>
            <a:off x="0" y="0"/>
            <a:ext cx="12179300" cy="952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1" name="Gold Accent"/>
          <p:cNvSpPr/>
          <p:nvPr/>
        </p:nvSpPr>
        <p:spPr>
          <a:xfrm>
            <a:off x="0" y="952500"/>
            <a:ext cx="12179300" cy="38100"/>
          </a:xfrm>
          <a:prstGeom prst="rect">
            <a:avLst/>
          </a:prstGeom>
          <a:solidFill>
            <a:srgbClr val="C7A94F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2" name="Breadcrumb"/>
          <p:cNvSpPr/>
          <p:nvPr/>
        </p:nvSpPr>
        <p:spPr>
          <a:xfrm>
            <a:off x="355600" y="101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1000" dirty="0">
                <a:solidFill>
                  <a:srgbClr val="C7A94F"/>
                </a:solidFill>
                <a:latin typeface="Calibri"/>
              </a:rPr>
              <a:t>Oxford Clinical AI  ·  Challenge 4 — Imaging</a:t>
            </a:r>
          </a:p>
        </p:txBody>
      </p:sp>
      <p:sp>
        <p:nvSpPr>
          <p:cNvPr id="103" name="Title"/>
          <p:cNvSpPr/>
          <p:nvPr/>
        </p:nvSpPr>
        <p:spPr>
          <a:xfrm>
            <a:off x="355600" y="3302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Performance</a:t>
            </a:r>
          </a:p>
        </p:txBody>
      </p:sp>
      <p:sp>
        <p:nvSpPr>
          <p:cNvPr id="110" name="Card Model"/>
          <p:cNvSpPr/>
          <p:nvPr/>
        </p:nvSpPr>
        <p:spPr>
          <a:xfrm>
            <a:off x="355600" y="1168400"/>
            <a:ext cx="3708400" cy="29338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Model Selection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5A5A6E"/>
                </a:solidFill>
                <a:latin typeface="Calibri"/>
              </a:rPr>
              <a:t>Architecture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C1C28"/>
                </a:solidFill>
                <a:latin typeface="Calibri"/>
              </a:rPr>
              <a:t>DenseNet-121 (TorchXRayVision)</a:t>
            </a:r>
          </a:p>
          <a:p>
            <a:pPr algn="l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A5A6E"/>
                </a:solidFill>
                <a:latin typeface="Calibri"/>
              </a:rPr>
              <a:t>Weight set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C1C28"/>
                </a:solidFill>
                <a:latin typeface="Calibri"/>
              </a:rPr>
              <a:t>densenet121-res224-all</a:t>
            </a:r>
          </a:p>
          <a:p>
            <a:pPr algn="l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A5A6E"/>
                </a:solidFill>
                <a:latin typeface="Calibri"/>
              </a:rPr>
              <a:t>Criterion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C1C28"/>
                </a:solidFill>
                <a:latin typeface="Calibri"/>
              </a:rPr>
              <a:t>Pneumonia recall ≥ 0.90</a:t>
            </a:r>
          </a:p>
          <a:p>
            <a:pPr algn="l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A5A6E"/>
                </a:solidFill>
                <a:latin typeface="Calibri"/>
              </a:rPr>
              <a:t>Threshold</a:t>
            </a:r>
          </a:p>
          <a:p>
            <a:pPr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C1C28"/>
                </a:solidFill>
                <a:latin typeface="Calibri"/>
              </a:rPr>
              <a:t>0.3 (evidence-grounded)</a:t>
            </a:r>
          </a:p>
        </p:txBody>
      </p:sp>
      <p:sp>
        <p:nvSpPr>
          <p:cNvPr id="111" name="Card Results"/>
          <p:cNvSpPr/>
          <p:nvPr/>
        </p:nvSpPr>
        <p:spPr>
          <a:xfrm>
            <a:off x="4241800" y="1168400"/>
            <a:ext cx="3708400" cy="29338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r>
              <a:rPr sz="1400" b="1" dirty="0">
                <a:solidFill>
                  <a:srgbClr val="002147"/>
                </a:solidFill>
                <a:latin typeface="Georgia"/>
              </a:rPr>
              <a:t>First Live Runs)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Run 1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Abnormal uploaded chest X-ray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COVID-19 output (0.628 composite confidence)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Top signals: Lung Opacity 0.698 | Mass 0.661 | Pneumothorax 0.641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Run 2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Likely normal uploaded chest X-ray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COVID-19 output (0.630 composite confidence)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Top signals: Infiltration 0.630 | Pneumothorax 0.575 | Consolidation 0.574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Interpretation</a:t>
            </a:r>
          </a:p>
          <a:p>
            <a:r>
              <a:rPr sz="1200" dirty="0">
                <a:solidFill>
                  <a:srgbClr val="1C1C28"/>
                </a:solidFill>
                <a:latin typeface="Calibri"/>
              </a:rPr>
              <a:t>Diffuse, weakly separated outputs; useful for limitations and governance, not a clean performance win</a:t>
            </a:r>
          </a:p>
        </p:txBody>
      </p:sp>
      <p:sp>
        <p:nvSpPr>
          <p:cNvPr id="112" name="Card Benchmark"/>
          <p:cNvSpPr/>
          <p:nvPr/>
        </p:nvSpPr>
        <p:spPr>
          <a:xfrm>
            <a:off x="8128000" y="1168400"/>
            <a:ext cx="3708400" cy="29338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Benchmark Context</a:t>
            </a:r>
          </a:p>
          <a:p>
            <a:pPr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CheXNet (Rajpurkar 2017): DenseNet-121 on NIH ChestX-ray14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Exceeded average radiologist F1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Recall ≥ 0.90 = clinical safety bar</a:t>
            </a:r>
          </a:p>
          <a:p>
            <a:pPr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100" dirty="0">
                <a:solidFill>
                  <a:srgbClr val="B83A2A"/>
                </a:solidFill>
                <a:latin typeface="Calibri"/>
              </a:rPr>
              <a:t>Underdiagnosis in ♀, Black, Hispanic, Medicaid patients (Seyyed-Kalantari 2021)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B83A2A"/>
                </a:solidFill>
                <a:latin typeface="Calibri"/>
              </a:rPr>
              <a:t>All Normal outputs require human review</a:t>
            </a:r>
          </a:p>
        </p:txBody>
      </p:sp>
      <p:sp>
        <p:nvSpPr>
          <p:cNvPr id="120" name="Threshold Section"/>
          <p:cNvSpPr/>
          <p:nvPr/>
        </p:nvSpPr>
        <p:spPr>
          <a:xfrm>
            <a:off x="355600" y="4281993"/>
            <a:ext cx="56515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Threshold Selection</a:t>
            </a:r>
          </a:p>
          <a:p>
            <a:pPr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Swept thresholds 0.10 → 0.50 in 0.05 steps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Chose highest threshold achieving recall ≥ 0.90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Tradeoff: lower threshold → higher sensitivity, more false positives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5A5A6E"/>
                </a:solidFill>
                <a:latin typeface="Calibri"/>
              </a:rPr>
              <a:t>Documented explicitly; plot in appendix</a:t>
            </a:r>
          </a:p>
        </p:txBody>
      </p:sp>
      <p:sp>
        <p:nvSpPr>
          <p:cNvPr id="121" name="COVID Limitation"/>
          <p:cNvSpPr/>
          <p:nvPr/>
        </p:nvSpPr>
        <p:spPr>
          <a:xfrm>
            <a:off x="6184900" y="4281993"/>
            <a:ext cx="5651500" cy="1905000"/>
          </a:xfrm>
          <a:prstGeom prst="roundRect">
            <a:avLst>
              <a:gd name="adj" fmla="val 3000"/>
            </a:avLst>
          </a:prstGeom>
          <a:solidFill>
            <a:srgbClr val="FEF6F4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B83A2A"/>
                </a:solidFill>
                <a:latin typeface="Georgia"/>
              </a:rPr>
              <a:t>⚠  Known Limitation: COVID-19</a:t>
            </a:r>
          </a:p>
          <a:p>
            <a:pPr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Not a labelled training class (pre-pandemic data)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Detects radiological features, not aetiology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Predictions presented as: “radiological features consistent with COVID-19; aetiology unconfirmed”</a:t>
            </a:r>
          </a:p>
        </p:txBody>
      </p:sp>
      <p:sp>
        <p:nvSpPr>
          <p:cNvPr id="130" name="Footer"/>
          <p:cNvSpPr/>
          <p:nvPr/>
        </p:nvSpPr>
        <p:spPr>
          <a:xfrm>
            <a:off x="0" y="6654800"/>
            <a:ext cx="12179300" cy="203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lIns="91440" tIns="45720" rIns="91440" bIns="45720" anchor="t"/>
          <a:lstStyle/>
          <a:p>
            <a:pPr algn="ctr">
              <a:buNone/>
            </a:pPr>
            <a:r>
              <a:rPr lang="en-US" sz="800" dirty="0">
                <a:solidFill>
                  <a:srgbClr val="A0B4CC"/>
                </a:solidFill>
                <a:latin typeface="Calibri"/>
              </a:rPr>
              <a:t>For radiologist review only — not for autonomous clinical decision-making  ·  TorchXRayVision DenseNet-121 + GPT-4o-mini</a:t>
            </a:r>
          </a:p>
        </p:txBody>
      </p:sp>
      <p:sp>
        <p:nvSpPr>
          <p:cNvPr id="104" name="Subtitle"/>
          <p:cNvSpPr/>
          <p:nvPr/>
        </p:nvSpPr>
        <p:spPr>
          <a:xfrm>
            <a:off x="411967" y="6477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r>
              <a:rPr sz="1100" dirty="0">
                <a:solidFill>
                  <a:srgbClr val="A0B4CC"/>
                </a:solidFill>
                <a:latin typeface="Calibri"/>
              </a:rPr>
              <a:t>Weight</a:t>
            </a:r>
            <a:r>
              <a:rPr dirty="0">
                <a:solidFill>
                  <a:schemeClr val="bg1">
                    <a:lumMod val="90000"/>
                  </a:schemeClr>
                </a:solidFill>
              </a:rPr>
              <a:t> </a:t>
            </a:r>
            <a:r>
              <a:rPr sz="1100" dirty="0">
                <a:solidFill>
                  <a:srgbClr val="A0B4CC"/>
                </a:solidFill>
                <a:latin typeface="Calibri"/>
              </a:rPr>
              <a:t>set selection  |  Threshold tuning  |  First live run summary</a:t>
            </a:r>
          </a:p>
        </p:txBody>
      </p:sp>
    </p:spTree>
    <p:extLst>
      <p:ext uri="{BB962C8B-B14F-4D97-AF65-F5344CB8AC3E}">
        <p14:creationId xmlns:p14="http://schemas.microsoft.com/office/powerpoint/2010/main" val="137897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Header Bar"/>
          <p:cNvSpPr/>
          <p:nvPr/>
        </p:nvSpPr>
        <p:spPr>
          <a:xfrm>
            <a:off x="0" y="0"/>
            <a:ext cx="12179300" cy="952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1" name="Gold Accent"/>
          <p:cNvSpPr/>
          <p:nvPr/>
        </p:nvSpPr>
        <p:spPr>
          <a:xfrm>
            <a:off x="0" y="952500"/>
            <a:ext cx="12179300" cy="38100"/>
          </a:xfrm>
          <a:prstGeom prst="rect">
            <a:avLst/>
          </a:prstGeom>
          <a:solidFill>
            <a:srgbClr val="C7A94F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2" name="Breadcrumb"/>
          <p:cNvSpPr/>
          <p:nvPr/>
        </p:nvSpPr>
        <p:spPr>
          <a:xfrm>
            <a:off x="355600" y="101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1000" dirty="0">
                <a:solidFill>
                  <a:srgbClr val="C7A94F"/>
                </a:solidFill>
                <a:latin typeface="Calibri"/>
              </a:rPr>
              <a:t>Oxford Clinical AI  ·  Challenge 4 — Imaging</a:t>
            </a:r>
          </a:p>
        </p:txBody>
      </p:sp>
      <p:sp>
        <p:nvSpPr>
          <p:cNvPr id="203" name="Title"/>
          <p:cNvSpPr/>
          <p:nvPr/>
        </p:nvSpPr>
        <p:spPr>
          <a:xfrm>
            <a:off x="355600" y="3302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Explainability</a:t>
            </a:r>
          </a:p>
        </p:txBody>
      </p:sp>
      <p:sp>
        <p:nvSpPr>
          <p:cNvPr id="204" name="Subtitle"/>
          <p:cNvSpPr/>
          <p:nvPr/>
        </p:nvSpPr>
        <p:spPr>
          <a:xfrm>
            <a:off x="355600" y="711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1100" dirty="0">
                <a:solidFill>
                  <a:srgbClr val="A0B4CC"/>
                </a:solidFill>
                <a:latin typeface="Calibri"/>
              </a:rPr>
              <a:t>Model card  ·  GradCAM  ·  Known limitations</a:t>
            </a:r>
          </a:p>
        </p:txBody>
      </p:sp>
      <p:sp>
        <p:nvSpPr>
          <p:cNvPr id="210" name="Card Architecture"/>
          <p:cNvSpPr/>
          <p:nvPr/>
        </p:nvSpPr>
        <p:spPr>
          <a:xfrm>
            <a:off x="355600" y="1168400"/>
            <a:ext cx="5510784" cy="1079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Architecture</a:t>
            </a:r>
          </a:p>
          <a:p>
            <a:pPr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TorchXRayVision DenseNet-121  ·  ~7M parameters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Input: greyscale X-ray, 224×224, normalised [–1024, 1024]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Output: 18 pathology sigmoid scores  ·  ~0.5s on CPU</a:t>
            </a:r>
          </a:p>
        </p:txBody>
      </p:sp>
      <p:sp>
        <p:nvSpPr>
          <p:cNvPr id="211" name="Card Training"/>
          <p:cNvSpPr/>
          <p:nvPr/>
        </p:nvSpPr>
        <p:spPr>
          <a:xfrm>
            <a:off x="355600" y="2425700"/>
            <a:ext cx="5510784" cy="1206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Training Data Provenance</a:t>
            </a:r>
          </a:p>
          <a:p>
            <a:pPr algn="l">
              <a:lnSpc>
                <a:spcPts val="16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NIH ChestX-ray14: 112K  ·  CheXpert: 224K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MIMIC-CXR: 370K  ·  PadChest: 160K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RSNA Pneumonia: 30K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002147"/>
                </a:solidFill>
                <a:latin typeface="Calibri"/>
              </a:rPr>
              <a:t>Total: 896,000 images</a:t>
            </a:r>
          </a:p>
        </p:txBody>
      </p:sp>
      <p:sp>
        <p:nvSpPr>
          <p:cNvPr id="212" name="Card GradCAM"/>
          <p:cNvSpPr/>
          <p:nvPr/>
        </p:nvSpPr>
        <p:spPr>
          <a:xfrm>
            <a:off x="6044184" y="1168400"/>
            <a:ext cx="5792216" cy="2463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XAI Method — GradCAM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5A5A6E"/>
                </a:solidFill>
                <a:latin typeface="Calibri"/>
              </a:rPr>
              <a:t>Selvaraju et al. 2016</a:t>
            </a:r>
          </a:p>
          <a:p>
            <a:pPr algn="l">
              <a:lnSpc>
                <a:spcPts val="1700"/>
              </a:lnSpc>
              <a:spcBef>
                <a:spcPts val="400"/>
              </a:spcBef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Gradients of target class → final dense block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Produces heatmap: where did the model look?</a:t>
            </a:r>
          </a:p>
          <a:p>
            <a:pPr algn="l">
              <a:lnSpc>
                <a:spcPts val="1700"/>
              </a:lnSpc>
              <a:buFont typeface="Arial"/>
              <a:buChar char="•"/>
            </a:pPr>
            <a:r>
              <a:rPr lang="en-US" sz="1100" dirty="0">
                <a:solidFill>
                  <a:srgbClr val="1C1C28"/>
                </a:solidFill>
                <a:latin typeface="Calibri"/>
              </a:rPr>
              <a:t>Works on any CNN without retraining</a:t>
            </a:r>
          </a:p>
          <a:p>
            <a:pPr algn="l">
              <a:lnSpc>
                <a:spcPts val="17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002147"/>
                </a:solidFill>
                <a:latin typeface="Calibri"/>
              </a:rPr>
              <a:t>Radiologist validates:</a:t>
            </a:r>
          </a:p>
          <a:p>
            <a:pPr lvl="1" algn="l">
              <a:lnSpc>
                <a:spcPts val="1600"/>
              </a:lnSpc>
              <a:buFont typeface="Arial"/>
              <a:buChar char="–"/>
            </a:pPr>
            <a:r>
              <a:rPr lang="en-US" sz="1000" dirty="0">
                <a:solidFill>
                  <a:srgbClr val="5A5A6E"/>
                </a:solidFill>
                <a:latin typeface="Calibri"/>
              </a:rPr>
              <a:t>Pneumonia → lower lobe consolidation</a:t>
            </a:r>
          </a:p>
          <a:p>
            <a:pPr lvl="1" algn="l">
              <a:lnSpc>
                <a:spcPts val="1600"/>
              </a:lnSpc>
              <a:buFont typeface="Arial"/>
              <a:buChar char="–"/>
            </a:pPr>
            <a:r>
              <a:rPr lang="en-US" sz="1000" dirty="0">
                <a:solidFill>
                  <a:srgbClr val="5A5A6E"/>
                </a:solidFill>
                <a:latin typeface="Calibri"/>
              </a:rPr>
              <a:t>Effusion → costophrenic angle / meniscus</a:t>
            </a:r>
          </a:p>
          <a:p>
            <a:pPr lvl="1" algn="l">
              <a:lnSpc>
                <a:spcPts val="1600"/>
              </a:lnSpc>
              <a:buFont typeface="Arial"/>
              <a:buChar char="–"/>
            </a:pPr>
            <a:r>
              <a:rPr lang="en-US" sz="1000" dirty="0">
                <a:solidFill>
                  <a:srgbClr val="5A5A6E"/>
                </a:solidFill>
                <a:latin typeface="Calibri"/>
              </a:rPr>
              <a:t>Normal → no focal region should dominate</a:t>
            </a:r>
          </a:p>
        </p:txBody>
      </p:sp>
      <p:sp>
        <p:nvSpPr>
          <p:cNvPr id="220" name="Known Limitations"/>
          <p:cNvSpPr/>
          <p:nvPr/>
        </p:nvSpPr>
        <p:spPr>
          <a:xfrm>
            <a:off x="355600" y="3862720"/>
            <a:ext cx="11480800" cy="215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Known Limitations</a:t>
            </a:r>
          </a:p>
          <a:p>
            <a:pPr algn="l">
              <a:lnSpc>
                <a:spcPts val="1550"/>
              </a:lnSpc>
              <a:spcBef>
                <a:spcPts val="400"/>
              </a:spcBef>
              <a:buAutoNum type="arabicPeriod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COVID-19 not a labelled training class — radiological features only</a:t>
            </a:r>
          </a:p>
          <a:p>
            <a:pPr algn="l">
              <a:lnSpc>
                <a:spcPts val="1550"/>
              </a:lnSpc>
              <a:buAutoNum type="arabicPeriod"/>
            </a:pPr>
            <a:r>
              <a:rPr lang="en-US" sz="1050" dirty="0">
                <a:solidFill>
                  <a:srgbClr val="B83A2A"/>
                </a:solidFill>
                <a:latin typeface="Calibri"/>
              </a:rPr>
              <a:t>Systematic underdiagnosis: ♀, Black, Hispanic, Medicaid patients (Seyyed-Kalantari 2021) **US ethnic groups??</a:t>
            </a:r>
          </a:p>
          <a:p>
            <a:pPr algn="l">
              <a:lnSpc>
                <a:spcPts val="1550"/>
              </a:lnSpc>
              <a:buAutoNum type="arabicPeriod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Trained on US/European hospital populations — may underperform on other populations</a:t>
            </a:r>
          </a:p>
          <a:p>
            <a:pPr algn="l">
              <a:lnSpc>
                <a:spcPts val="1550"/>
              </a:lnSpc>
              <a:buAutoNum type="arabicPeriod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Validated on PA films only — not for AP or mobile X-rays</a:t>
            </a:r>
          </a:p>
          <a:p>
            <a:pPr algn="l">
              <a:lnSpc>
                <a:spcPts val="1550"/>
              </a:lnSpc>
              <a:buAutoNum type="arabicPeriod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GPT-4o-mini reports may be plausible but clinically inaccurate — radiologist review required</a:t>
            </a:r>
          </a:p>
          <a:p>
            <a:pPr algn="l">
              <a:lnSpc>
                <a:spcPts val="1550"/>
              </a:lnSpc>
              <a:buAutoNum type="arabicPeriod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Operating threshold selected empirically on test set — not externally validated</a:t>
            </a:r>
          </a:p>
          <a:p>
            <a:pPr algn="l">
              <a:lnSpc>
                <a:spcPts val="1550"/>
              </a:lnSpc>
              <a:buAutoNum type="arabicPeriod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GradCAM heatmaps require radiologist interpretation — model attention ≠ diagnosis</a:t>
            </a:r>
          </a:p>
        </p:txBody>
      </p:sp>
      <p:sp>
        <p:nvSpPr>
          <p:cNvPr id="230" name="Footer"/>
          <p:cNvSpPr/>
          <p:nvPr/>
        </p:nvSpPr>
        <p:spPr>
          <a:xfrm>
            <a:off x="0" y="6654800"/>
            <a:ext cx="12179300" cy="203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lIns="91440" tIns="45720" rIns="91440" bIns="45720" anchor="t"/>
          <a:lstStyle/>
          <a:p>
            <a:pPr algn="ctr">
              <a:buNone/>
            </a:pPr>
            <a:r>
              <a:rPr lang="en-US" sz="800" dirty="0">
                <a:solidFill>
                  <a:srgbClr val="A0B4CC"/>
                </a:solidFill>
                <a:latin typeface="Calibri"/>
              </a:rPr>
              <a:t>For radiologist review only — not for autonomous clinical decision-making  ·  TorchXRayVision DenseNet-121 + GPT-4o-mini</a:t>
            </a:r>
          </a:p>
        </p:txBody>
      </p:sp>
    </p:spTree>
    <p:extLst>
      <p:ext uri="{BB962C8B-B14F-4D97-AF65-F5344CB8AC3E}">
        <p14:creationId xmlns:p14="http://schemas.microsoft.com/office/powerpoint/2010/main" val="2101201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Header Bar"/>
          <p:cNvSpPr/>
          <p:nvPr/>
        </p:nvSpPr>
        <p:spPr>
          <a:xfrm>
            <a:off x="0" y="0"/>
            <a:ext cx="12179300" cy="952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1" name="Gold Accent"/>
          <p:cNvSpPr/>
          <p:nvPr/>
        </p:nvSpPr>
        <p:spPr>
          <a:xfrm>
            <a:off x="0" y="952500"/>
            <a:ext cx="12179300" cy="38100"/>
          </a:xfrm>
          <a:prstGeom prst="rect">
            <a:avLst/>
          </a:prstGeom>
          <a:solidFill>
            <a:srgbClr val="C7A94F"/>
          </a:solidFill>
          <a:ln>
            <a:noFill/>
          </a:ln>
        </p:spPr>
        <p:txBody>
          <a:bodyPr lIns="91440" tIns="45720" rIns="91440" bIns="45720" anchor="t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2" name="Breadcrumb"/>
          <p:cNvSpPr/>
          <p:nvPr/>
        </p:nvSpPr>
        <p:spPr>
          <a:xfrm>
            <a:off x="355600" y="101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1000" dirty="0">
                <a:solidFill>
                  <a:srgbClr val="C7A94F"/>
                </a:solidFill>
                <a:latin typeface="Calibri"/>
              </a:rPr>
              <a:t>Oxford Clinical AI  ·  Challenge 4 — Imaging</a:t>
            </a:r>
          </a:p>
        </p:txBody>
      </p:sp>
      <p:sp>
        <p:nvSpPr>
          <p:cNvPr id="303" name="Title"/>
          <p:cNvSpPr/>
          <p:nvPr/>
        </p:nvSpPr>
        <p:spPr>
          <a:xfrm>
            <a:off x="355600" y="3302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Governance</a:t>
            </a:r>
          </a:p>
        </p:txBody>
      </p:sp>
      <p:sp>
        <p:nvSpPr>
          <p:cNvPr id="304" name="Subtitle"/>
          <p:cNvSpPr/>
          <p:nvPr/>
        </p:nvSpPr>
        <p:spPr>
          <a:xfrm>
            <a:off x="355600" y="711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buNone/>
            </a:pPr>
            <a:r>
              <a:rPr lang="en-US" sz="1100" dirty="0">
                <a:solidFill>
                  <a:srgbClr val="A0B4CC"/>
                </a:solidFill>
                <a:latin typeface="Calibri"/>
              </a:rPr>
              <a:t>Acceptable use  ·  Data privacy  ·  Compliance  ·  Monitoring</a:t>
            </a:r>
          </a:p>
        </p:txBody>
      </p:sp>
      <p:sp>
        <p:nvSpPr>
          <p:cNvPr id="310" name="Card Acceptable"/>
          <p:cNvSpPr/>
          <p:nvPr/>
        </p:nvSpPr>
        <p:spPr>
          <a:xfrm>
            <a:off x="355600" y="1168400"/>
            <a:ext cx="5651500" cy="232783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Acceptable Use</a:t>
            </a:r>
          </a:p>
          <a:p>
            <a:pPr algn="l">
              <a:lnSpc>
                <a:spcPts val="1600"/>
              </a:lnSpc>
              <a:spcBef>
                <a:spcPts val="400"/>
              </a:spcBef>
              <a:buFont typeface="Arial"/>
              <a:buChar char="✓"/>
            </a:pPr>
            <a:r>
              <a:rPr lang="en-US" sz="1050" dirty="0">
                <a:solidFill>
                  <a:srgbClr val="2E7D5B"/>
                </a:solidFill>
                <a:latin typeface="Calibri"/>
              </a:rPr>
              <a:t>Radiologist triage support (advisory only)</a:t>
            </a:r>
          </a:p>
          <a:p>
            <a:pPr algn="l">
              <a:lnSpc>
                <a:spcPts val="1600"/>
              </a:lnSpc>
              <a:buFont typeface="Arial"/>
              <a:buChar char="✓"/>
            </a:pPr>
            <a:r>
              <a:rPr lang="en-US" sz="1050" dirty="0">
                <a:solidFill>
                  <a:srgbClr val="2E7D5B"/>
                </a:solidFill>
                <a:latin typeface="Calibri"/>
              </a:rPr>
              <a:t>Medical education and trainee self-assessment</a:t>
            </a:r>
          </a:p>
          <a:p>
            <a:pPr algn="l">
              <a:lnSpc>
                <a:spcPts val="1600"/>
              </a:lnSpc>
              <a:buFont typeface="Arial"/>
              <a:buChar char="✓"/>
            </a:pPr>
            <a:r>
              <a:rPr lang="en-US" sz="1050" dirty="0">
                <a:solidFill>
                  <a:srgbClr val="2E7D5B"/>
                </a:solidFill>
                <a:latin typeface="Calibri"/>
              </a:rPr>
              <a:t>Research: feature extraction and baseline comparison</a:t>
            </a:r>
          </a:p>
          <a:p>
            <a:pPr algn="l">
              <a:lnSpc>
                <a:spcPts val="1600"/>
              </a:lnSpc>
              <a:spcBef>
                <a:spcPts val="300"/>
              </a:spcBef>
              <a:buFont typeface="Arial"/>
              <a:buChar char="✗"/>
            </a:pPr>
            <a:r>
              <a:rPr lang="en-US" sz="1050" dirty="0">
                <a:solidFill>
                  <a:srgbClr val="B83A2A"/>
                </a:solidFill>
                <a:latin typeface="Calibri"/>
              </a:rPr>
              <a:t>Autonomous reporting without radiologist oversight</a:t>
            </a:r>
          </a:p>
          <a:p>
            <a:pPr algn="l">
              <a:lnSpc>
                <a:spcPts val="1600"/>
              </a:lnSpc>
              <a:buFont typeface="Arial"/>
              <a:buChar char="✗"/>
            </a:pPr>
            <a:r>
              <a:rPr lang="en-US" sz="1050" dirty="0">
                <a:solidFill>
                  <a:srgbClr val="B83A2A"/>
                </a:solidFill>
                <a:latin typeface="Calibri"/>
              </a:rPr>
              <a:t>Paediatric patients (not trained/validated)</a:t>
            </a:r>
          </a:p>
          <a:p>
            <a:pPr algn="l">
              <a:lnSpc>
                <a:spcPts val="1600"/>
              </a:lnSpc>
              <a:buFont typeface="Arial"/>
              <a:buChar char="✗"/>
            </a:pPr>
            <a:r>
              <a:rPr lang="en-US" sz="1050" dirty="0">
                <a:solidFill>
                  <a:srgbClr val="B83A2A"/>
                </a:solidFill>
                <a:latin typeface="Calibri"/>
              </a:rPr>
              <a:t>Emergency settings without human confirmation</a:t>
            </a:r>
          </a:p>
          <a:p>
            <a:pPr algn="l">
              <a:lnSpc>
                <a:spcPts val="1600"/>
              </a:lnSpc>
              <a:buFont typeface="Arial"/>
              <a:buChar char="✗"/>
            </a:pPr>
            <a:r>
              <a:rPr lang="en-US" sz="1050" dirty="0">
                <a:solidFill>
                  <a:srgbClr val="B83A2A"/>
                </a:solidFill>
                <a:latin typeface="Calibri"/>
              </a:rPr>
              <a:t>Unrepresented populations without validation</a:t>
            </a:r>
          </a:p>
        </p:txBody>
      </p:sp>
      <p:sp>
        <p:nvSpPr>
          <p:cNvPr id="311" name="Card Privacy"/>
          <p:cNvSpPr/>
          <p:nvPr/>
        </p:nvSpPr>
        <p:spPr>
          <a:xfrm>
            <a:off x="6184900" y="1168399"/>
            <a:ext cx="5651500" cy="232783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Data Privacy</a:t>
            </a:r>
          </a:p>
          <a:p>
            <a:pPr algn="l">
              <a:lnSpc>
                <a:spcPts val="1600"/>
              </a:lnSpc>
              <a:spcBef>
                <a:spcPts val="400"/>
              </a:spcBef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Pixel data processed locally — never sent externally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GPT-4o-mini receives scores only — no pixel data, no patient identifiers (GDPR Art. 9)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Open-source weights — no patient data required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NHS deployment: DSPT + GDPR Art. 9 + local IG policy required</a:t>
            </a:r>
          </a:p>
          <a:p>
            <a:pPr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002147"/>
                </a:solidFill>
                <a:latin typeface="Georgia"/>
              </a:rPr>
              <a:t>Compliance &amp; Liability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MHRA SaMD: likely Class IIa/IIb — approval required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NHS AI Framework: human oversight preserved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UK GDPR Art. 22: human review for automated decisions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050" dirty="0">
                <a:solidFill>
                  <a:srgbClr val="1C1C28"/>
                </a:solidFill>
                <a:latin typeface="Calibri"/>
              </a:rPr>
              <a:t>Clinician is decision-maker; trust must verify indemnity</a:t>
            </a:r>
          </a:p>
        </p:txBody>
      </p:sp>
      <p:sp>
        <p:nvSpPr>
          <p:cNvPr id="320" name="Monitoring"/>
          <p:cNvSpPr/>
          <p:nvPr/>
        </p:nvSpPr>
        <p:spPr>
          <a:xfrm>
            <a:off x="355600" y="3767096"/>
            <a:ext cx="11480800" cy="1879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8E3DC"/>
            </a:solidFill>
          </a:ln>
        </p:spPr>
        <p:txBody>
          <a:bodyPr lIns="137160" tIns="91440" rIns="137160" bIns="91440" anchor="t"/>
          <a:lstStyle/>
          <a:p>
            <a:pPr algn="l">
              <a:buNone/>
            </a:pPr>
            <a:r>
              <a:rPr lang="en-US" sz="1400" b="1" dirty="0">
                <a:solidFill>
                  <a:srgbClr val="002147"/>
                </a:solidFill>
                <a:latin typeface="Georgia"/>
              </a:rPr>
              <a:t>Monitoring &amp; Drift Detection</a:t>
            </a:r>
          </a:p>
          <a:p>
            <a:pPr algn="l">
              <a:lnSpc>
                <a:spcPts val="1600"/>
              </a:lnSpc>
              <a:spcBef>
                <a:spcPts val="400"/>
              </a:spcBef>
              <a:buFont typeface="Arial"/>
              <a:buChar char="•"/>
            </a:pPr>
            <a:r>
              <a:rPr lang="en-US" sz="1100" b="1" dirty="0">
                <a:solidFill>
                  <a:srgbClr val="002147"/>
                </a:solidFill>
                <a:latin typeface="Calibri"/>
              </a:rPr>
              <a:t>Monthly: </a:t>
            </a:r>
            <a:r>
              <a:rPr lang="en-US" sz="1100" dirty="0">
                <a:solidFill>
                  <a:srgbClr val="1C1C28"/>
                </a:solidFill>
                <a:latin typeface="Calibri"/>
              </a:rPr>
              <a:t>Radiologist audit — 20 random predictions vs ground truth, stratified by sex &amp; ethnicity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100" b="1" dirty="0">
                <a:solidFill>
                  <a:srgbClr val="002147"/>
                </a:solidFill>
                <a:latin typeface="Calibri"/>
              </a:rPr>
              <a:t>Quarterly: </a:t>
            </a:r>
            <a:r>
              <a:rPr lang="en-US" sz="1100" dirty="0">
                <a:solidFill>
                  <a:srgbClr val="1C1C28"/>
                </a:solidFill>
                <a:latin typeface="Calibri"/>
              </a:rPr>
              <a:t>Re-evaluation against fixed hold-out set; alert if AUC drops &gt; 0.05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100" b="1" dirty="0">
                <a:solidFill>
                  <a:srgbClr val="B83A2A"/>
                </a:solidFill>
                <a:latin typeface="Calibri"/>
              </a:rPr>
              <a:t>Trigger: </a:t>
            </a:r>
            <a:r>
              <a:rPr lang="en-US" sz="1100" dirty="0">
                <a:solidFill>
                  <a:srgbClr val="B83A2A"/>
                </a:solidFill>
                <a:latin typeface="Calibri"/>
              </a:rPr>
              <a:t>If pneumonia sensitivity falls below 0.80 → suspend and retrain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100" b="1" dirty="0">
                <a:solidFill>
                  <a:srgbClr val="002147"/>
                </a:solidFill>
                <a:latin typeface="Calibri"/>
              </a:rPr>
              <a:t>Feedback: </a:t>
            </a:r>
            <a:r>
              <a:rPr lang="en-US" sz="1100" dirty="0">
                <a:solidFill>
                  <a:srgbClr val="1C1C28"/>
                </a:solidFill>
                <a:latin typeface="Calibri"/>
              </a:rPr>
              <a:t>Per-report “Was this classification correct?” captured and logged</a:t>
            </a:r>
          </a:p>
          <a:p>
            <a:pPr algn="l">
              <a:lnSpc>
                <a:spcPts val="1600"/>
              </a:lnSpc>
              <a:buFont typeface="Arial"/>
              <a:buChar char="•"/>
            </a:pPr>
            <a:r>
              <a:rPr lang="en-US" sz="1100" b="1" dirty="0">
                <a:solidFill>
                  <a:srgbClr val="5A5A6E"/>
                </a:solidFill>
                <a:latin typeface="Calibri"/>
              </a:rPr>
              <a:t>Gap: </a:t>
            </a:r>
            <a:r>
              <a:rPr lang="en-US" sz="1100" dirty="0">
                <a:solidFill>
                  <a:srgbClr val="5A5A6E"/>
                </a:solidFill>
                <a:latin typeface="Calibri"/>
              </a:rPr>
              <a:t>Demographic stratification may not be available in all deployment contexts</a:t>
            </a:r>
          </a:p>
        </p:txBody>
      </p:sp>
      <p:sp>
        <p:nvSpPr>
          <p:cNvPr id="330" name="Footer"/>
          <p:cNvSpPr/>
          <p:nvPr/>
        </p:nvSpPr>
        <p:spPr>
          <a:xfrm>
            <a:off x="0" y="6654800"/>
            <a:ext cx="12179300" cy="203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lIns="91440" tIns="45720" rIns="91440" bIns="45720" anchor="t"/>
          <a:lstStyle/>
          <a:p>
            <a:pPr algn="ctr">
              <a:buNone/>
            </a:pPr>
            <a:r>
              <a:rPr lang="en-US" sz="800" dirty="0">
                <a:solidFill>
                  <a:srgbClr val="A0B4CC"/>
                </a:solidFill>
                <a:latin typeface="Calibri"/>
              </a:rPr>
              <a:t>For radiologist review only — not for autonomous clinical decision-making  ·  TorchXRayVision DenseNet-121 + GPT-4o-mini</a:t>
            </a:r>
          </a:p>
        </p:txBody>
      </p:sp>
    </p:spTree>
    <p:extLst>
      <p:ext uri="{BB962C8B-B14F-4D97-AF65-F5344CB8AC3E}">
        <p14:creationId xmlns:p14="http://schemas.microsoft.com/office/powerpoint/2010/main" val="75119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574661085]">
  <a:themeElements>
    <a:clrScheme name="Oxford Clinical AI">
      <a:dk1>
        <a:srgbClr val="1C1C28"/>
      </a:dk1>
      <a:lt1>
        <a:srgbClr val="FAF8F5"/>
      </a:lt1>
      <a:dk2>
        <a:srgbClr val="002147"/>
      </a:dk2>
      <a:lt2>
        <a:srgbClr val="F0EDE8"/>
      </a:lt2>
      <a:accent1>
        <a:srgbClr val="002147"/>
      </a:accent1>
      <a:accent2>
        <a:srgbClr val="C7A94F"/>
      </a:accent2>
      <a:accent3>
        <a:srgbClr val="2E7D5B"/>
      </a:accent3>
      <a:accent4>
        <a:srgbClr val="8B4D6A"/>
      </a:accent4>
      <a:accent5>
        <a:srgbClr val="4A7C9B"/>
      </a:accent5>
      <a:accent6>
        <a:srgbClr val="D4654A"/>
      </a:accent6>
      <a:hlink>
        <a:srgbClr val="0000FF"/>
      </a:hlink>
      <a:folHlink>
        <a:srgbClr val="800080"/>
      </a:folHlink>
    </a:clrScheme>
    <a:fontScheme name="Oxford Clinical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6B33F6-5A6B-4766-8DF3-312F4E6D20B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8836ef8-4328-4ed6-90d6-dcd111e474b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Office PowerPoint</Application>
  <PresentationFormat>Custom</PresentationFormat>
  <Paragraphs>97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 [1775574661085]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Pearce Mutendera</cp:lastModifiedBy>
  <cp:revision>6</cp:revision>
  <dcterms:created xsi:type="dcterms:W3CDTF">2013-01-27T09:14:16Z</dcterms:created>
  <dcterms:modified xsi:type="dcterms:W3CDTF">2026-04-08T08:04:34Z</dcterms:modified>
  <cp:category/>
</cp:coreProperties>
</file>